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T Serif"/>
      <p:regular r:id="rId17"/>
    </p:embeddedFont>
    <p:embeddedFont>
      <p:font typeface="PT Serif"/>
      <p:regular r:id="rId18"/>
    </p:embeddedFont>
    <p:embeddedFont>
      <p:font typeface="PT Serif"/>
      <p:regular r:id="rId19"/>
    </p:embeddedFont>
    <p:embeddedFont>
      <p:font typeface="PT Serif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8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slideLayout" Target="../slideLayouts/slideLayout11.xml"/><Relationship Id="rId2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91928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Information Assurance Project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9206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Subtitle: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FAST-NUCES Islamabad — Accounting &amp; Finance Department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5386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Ahmed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567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Information Assurance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7476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235" y="756166"/>
            <a:ext cx="9750981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Overview: ISO 27001 Alignment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37235" y="1868567"/>
            <a:ext cx="1315593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designs and implements an ISO 27001-aligned Information Security Management System (ISMS) for the A&amp;F Department.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7235" y="2758321"/>
            <a:ext cx="4244816" cy="1105495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7235" y="2735461"/>
            <a:ext cx="4244816" cy="91440"/>
          </a:xfrm>
          <a:prstGeom prst="roundRect">
            <a:avLst>
              <a:gd name="adj" fmla="val 34554"/>
            </a:avLst>
          </a:prstGeom>
          <a:solidFill>
            <a:srgbClr val="E04F00"/>
          </a:solidFill>
          <a:ln/>
        </p:spPr>
      </p:sp>
      <p:sp>
        <p:nvSpPr>
          <p:cNvPr id="6" name="Shape 4"/>
          <p:cNvSpPr/>
          <p:nvPr/>
        </p:nvSpPr>
        <p:spPr>
          <a:xfrm>
            <a:off x="2543711" y="2442448"/>
            <a:ext cx="631865" cy="631865"/>
          </a:xfrm>
          <a:prstGeom prst="roundRect">
            <a:avLst>
              <a:gd name="adj" fmla="val 144714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2733258" y="2600444"/>
            <a:ext cx="252651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70717" y="3284815"/>
            <a:ext cx="276760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ISMS Scope Document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5192673" y="2758321"/>
            <a:ext cx="4244935" cy="1105495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192673" y="2735461"/>
            <a:ext cx="4244935" cy="91440"/>
          </a:xfrm>
          <a:prstGeom prst="roundRect">
            <a:avLst>
              <a:gd name="adj" fmla="val 34554"/>
            </a:avLst>
          </a:prstGeom>
          <a:solidFill>
            <a:srgbClr val="E04F00"/>
          </a:solidFill>
          <a:ln/>
        </p:spPr>
      </p:sp>
      <p:sp>
        <p:nvSpPr>
          <p:cNvPr id="11" name="Shape 9"/>
          <p:cNvSpPr/>
          <p:nvPr/>
        </p:nvSpPr>
        <p:spPr>
          <a:xfrm>
            <a:off x="6999149" y="2442448"/>
            <a:ext cx="631865" cy="631865"/>
          </a:xfrm>
          <a:prstGeom prst="roundRect">
            <a:avLst>
              <a:gd name="adj" fmla="val 144714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188696" y="2600444"/>
            <a:ext cx="252651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26154" y="3284815"/>
            <a:ext cx="276463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Asset Inventory</a:t>
            </a:r>
            <a:endParaRPr lang="en-US" sz="2150" dirty="0"/>
          </a:p>
        </p:txBody>
      </p:sp>
      <p:sp>
        <p:nvSpPr>
          <p:cNvPr id="14" name="Shape 12"/>
          <p:cNvSpPr/>
          <p:nvPr/>
        </p:nvSpPr>
        <p:spPr>
          <a:xfrm>
            <a:off x="9648230" y="2758321"/>
            <a:ext cx="4244816" cy="1105495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648230" y="2735461"/>
            <a:ext cx="4244816" cy="91440"/>
          </a:xfrm>
          <a:prstGeom prst="roundRect">
            <a:avLst>
              <a:gd name="adj" fmla="val 34554"/>
            </a:avLst>
          </a:prstGeom>
          <a:solidFill>
            <a:srgbClr val="E04F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54705" y="2442448"/>
            <a:ext cx="631865" cy="631865"/>
          </a:xfrm>
          <a:prstGeom prst="roundRect">
            <a:avLst>
              <a:gd name="adj" fmla="val 144714"/>
            </a:avLst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11644253" y="2600444"/>
            <a:ext cx="252651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81711" y="3284815"/>
            <a:ext cx="3223617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 Assessment (24 risks)</a:t>
            </a:r>
            <a:endParaRPr lang="en-US" sz="2150" dirty="0"/>
          </a:p>
        </p:txBody>
      </p:sp>
      <p:sp>
        <p:nvSpPr>
          <p:cNvPr id="19" name="Shape 17"/>
          <p:cNvSpPr/>
          <p:nvPr/>
        </p:nvSpPr>
        <p:spPr>
          <a:xfrm>
            <a:off x="737235" y="4390311"/>
            <a:ext cx="4244816" cy="1451015"/>
          </a:xfrm>
          <a:prstGeom prst="roundRect">
            <a:avLst>
              <a:gd name="adj" fmla="val 756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7235" y="4367451"/>
            <a:ext cx="4244816" cy="91440"/>
          </a:xfrm>
          <a:prstGeom prst="roundRect">
            <a:avLst>
              <a:gd name="adj" fmla="val 34554"/>
            </a:avLst>
          </a:prstGeom>
          <a:solidFill>
            <a:srgbClr val="E04F00"/>
          </a:solidFill>
          <a:ln/>
        </p:spPr>
      </p:sp>
      <p:sp>
        <p:nvSpPr>
          <p:cNvPr id="21" name="Shape 19"/>
          <p:cNvSpPr/>
          <p:nvPr/>
        </p:nvSpPr>
        <p:spPr>
          <a:xfrm>
            <a:off x="2543711" y="4074438"/>
            <a:ext cx="631865" cy="631865"/>
          </a:xfrm>
          <a:prstGeom prst="roundRect">
            <a:avLst>
              <a:gd name="adj" fmla="val 144714"/>
            </a:avLst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33258" y="4232434"/>
            <a:ext cx="252651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70717" y="4916805"/>
            <a:ext cx="3200162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 Control Management</a:t>
            </a:r>
            <a:endParaRPr lang="en-US" sz="2150" dirty="0"/>
          </a:p>
        </p:txBody>
      </p:sp>
      <p:sp>
        <p:nvSpPr>
          <p:cNvPr id="24" name="Shape 22"/>
          <p:cNvSpPr/>
          <p:nvPr/>
        </p:nvSpPr>
        <p:spPr>
          <a:xfrm>
            <a:off x="5192673" y="4390311"/>
            <a:ext cx="4244935" cy="1451015"/>
          </a:xfrm>
          <a:prstGeom prst="roundRect">
            <a:avLst>
              <a:gd name="adj" fmla="val 756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192673" y="4367451"/>
            <a:ext cx="4244935" cy="91440"/>
          </a:xfrm>
          <a:prstGeom prst="roundRect">
            <a:avLst>
              <a:gd name="adj" fmla="val 34554"/>
            </a:avLst>
          </a:prstGeom>
          <a:solidFill>
            <a:srgbClr val="E04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9149" y="4074438"/>
            <a:ext cx="631865" cy="631865"/>
          </a:xfrm>
          <a:prstGeom prst="roundRect">
            <a:avLst>
              <a:gd name="adj" fmla="val 144714"/>
            </a:avLst>
          </a:prstGeom>
          <a:solidFill>
            <a:srgbClr val="E04F00"/>
          </a:solidFill>
          <a:ln/>
        </p:spPr>
      </p:sp>
      <p:sp>
        <p:nvSpPr>
          <p:cNvPr id="27" name="Text 25"/>
          <p:cNvSpPr/>
          <p:nvPr/>
        </p:nvSpPr>
        <p:spPr>
          <a:xfrm>
            <a:off x="7188696" y="4232434"/>
            <a:ext cx="252651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5426154" y="4916805"/>
            <a:ext cx="276463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Gap Analysis</a:t>
            </a:r>
            <a:endParaRPr lang="en-US" sz="2150" dirty="0"/>
          </a:p>
        </p:txBody>
      </p:sp>
      <p:sp>
        <p:nvSpPr>
          <p:cNvPr id="29" name="Shape 27"/>
          <p:cNvSpPr/>
          <p:nvPr/>
        </p:nvSpPr>
        <p:spPr>
          <a:xfrm>
            <a:off x="9648230" y="4390311"/>
            <a:ext cx="4244816" cy="1451015"/>
          </a:xfrm>
          <a:prstGeom prst="roundRect">
            <a:avLst>
              <a:gd name="adj" fmla="val 7562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648230" y="4367451"/>
            <a:ext cx="4244816" cy="91440"/>
          </a:xfrm>
          <a:prstGeom prst="roundRect">
            <a:avLst>
              <a:gd name="adj" fmla="val 34554"/>
            </a:avLst>
          </a:prstGeom>
          <a:solidFill>
            <a:srgbClr val="E04F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54705" y="4074438"/>
            <a:ext cx="631865" cy="631865"/>
          </a:xfrm>
          <a:prstGeom prst="roundRect">
            <a:avLst>
              <a:gd name="adj" fmla="val 144714"/>
            </a:avLst>
          </a:prstGeom>
          <a:solidFill>
            <a:srgbClr val="E04F00"/>
          </a:solidFill>
          <a:ln/>
        </p:spPr>
      </p:sp>
      <p:sp>
        <p:nvSpPr>
          <p:cNvPr id="32" name="Text 30"/>
          <p:cNvSpPr/>
          <p:nvPr/>
        </p:nvSpPr>
        <p:spPr>
          <a:xfrm>
            <a:off x="11644253" y="4232434"/>
            <a:ext cx="252651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881711" y="4916805"/>
            <a:ext cx="377785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Statement of Applicability (SoA)</a:t>
            </a:r>
            <a:endParaRPr lang="en-US" sz="2150" dirty="0"/>
          </a:p>
        </p:txBody>
      </p:sp>
      <p:sp>
        <p:nvSpPr>
          <p:cNvPr id="34" name="Shape 32"/>
          <p:cNvSpPr/>
          <p:nvPr/>
        </p:nvSpPr>
        <p:spPr>
          <a:xfrm>
            <a:off x="737235" y="6367820"/>
            <a:ext cx="13155811" cy="1105495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37235" y="6344960"/>
            <a:ext cx="13155811" cy="91440"/>
          </a:xfrm>
          <a:prstGeom prst="roundRect">
            <a:avLst>
              <a:gd name="adj" fmla="val 34554"/>
            </a:avLst>
          </a:prstGeom>
          <a:solidFill>
            <a:srgbClr val="E04F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999149" y="6051947"/>
            <a:ext cx="631865" cy="631865"/>
          </a:xfrm>
          <a:prstGeom prst="roundRect">
            <a:avLst>
              <a:gd name="adj" fmla="val 144714"/>
            </a:avLst>
          </a:prstGeom>
          <a:solidFill>
            <a:srgbClr val="E04F00"/>
          </a:solidFill>
          <a:ln/>
        </p:spPr>
      </p:sp>
      <p:sp>
        <p:nvSpPr>
          <p:cNvPr id="37" name="Text 35"/>
          <p:cNvSpPr/>
          <p:nvPr/>
        </p:nvSpPr>
        <p:spPr>
          <a:xfrm>
            <a:off x="7188696" y="6209943"/>
            <a:ext cx="252651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70717" y="6894314"/>
            <a:ext cx="3436382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Policies (4 policies)</a:t>
            </a:r>
            <a:endParaRPr lang="en-US" sz="2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2838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ISMS Scope Summary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26396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Scope Covers: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323850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Accounting &amp; Finance Department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04360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Fintech Lab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48579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systems (ERP, payroll)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29089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 systems (OneDrive, cloud ERP)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09600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Physical storage (exam papers)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26396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Exclusions: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4856321" y="323850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infrastructure outside A&amp;F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368069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LMS, HR systems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427041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Purpose: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856321" y="486929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 financial, academic, and personal data.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606" y="366593"/>
            <a:ext cx="575524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Organizational Context &amp; Key Assets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66606" y="1137285"/>
            <a:ext cx="1750100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Stakeholders: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66606" y="1489234"/>
            <a:ext cx="668595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Internal: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Finance Staff, Faculty, IT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606" y="1822490"/>
            <a:ext cx="668595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External: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Auditors, Vendors, Banks, Cloud Providers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6606" y="2169081"/>
            <a:ext cx="1750100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Activities Covered: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606" y="2521029"/>
            <a:ext cx="668595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Teaching, exams, fee processing, procurement, reporting.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85459" y="1137285"/>
            <a:ext cx="1750100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Confidential Assets: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85459" y="1489234"/>
            <a:ext cx="668595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Payroll records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85459" y="1749147"/>
            <a:ext cx="668595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Vendor invoices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85459" y="2009061"/>
            <a:ext cx="668595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 papers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85459" y="2268974"/>
            <a:ext cx="668595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records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85459" y="2528888"/>
            <a:ext cx="6685955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reports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5459" y="2892147"/>
            <a:ext cx="6685955" cy="66859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4477"/>
            <a:ext cx="681156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Asset Inventory Overview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323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assets documented: 45+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50419"/>
            <a:ext cx="3048000" cy="1883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4610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Hardware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5969198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PCs, laptops, NAS, printers, switches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350419"/>
            <a:ext cx="3048119" cy="1883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54610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Software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4125278" y="5969198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ERP, Payroll, MS Office, Antivirus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350419"/>
            <a:ext cx="3048119" cy="18838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54610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Cloud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7456884" y="5969198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OneDrive, Cloud ERP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350419"/>
            <a:ext cx="3048119" cy="18838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54610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Network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10788491" y="5969198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VLANs, Wi-Fi APs, Firewall rules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18210"/>
            <a:ext cx="705445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 Assessment Summary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20026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a 5 × 5 Likelihood × Impact matrix, 24 risks were identified.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620685"/>
            <a:ext cx="3664744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6507004" y="28474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4170" y="3034546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7004" y="375475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Critical Risks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6507004" y="4262914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identified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0171748" y="2620685"/>
            <a:ext cx="3664863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10398562" y="28474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5728" y="3034546"/>
            <a:ext cx="306110" cy="306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98562" y="375475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Risks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10398562" y="4262914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identified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280190" y="5079444"/>
            <a:ext cx="7556421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6507004" y="530625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4170" y="5493306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07004" y="621351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Medium Risks</a:t>
            </a:r>
            <a:endParaRPr lang="en-US" sz="2300" dirty="0"/>
          </a:p>
        </p:txBody>
      </p:sp>
      <p:sp>
        <p:nvSpPr>
          <p:cNvPr id="19" name="Text 13"/>
          <p:cNvSpPr/>
          <p:nvPr/>
        </p:nvSpPr>
        <p:spPr>
          <a:xfrm>
            <a:off x="6507004" y="672167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identified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844" y="514469"/>
            <a:ext cx="6075878" cy="61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Top Critical Risks Identified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4972" y="1508224"/>
            <a:ext cx="280630" cy="280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2777" y="1502569"/>
            <a:ext cx="2672120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MFA on ERP &amp; Email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972" y="2449413"/>
            <a:ext cx="280630" cy="2806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62777" y="2443758"/>
            <a:ext cx="2455783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Phishing attacks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972" y="3390602"/>
            <a:ext cx="280630" cy="2806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62777" y="3384947"/>
            <a:ext cx="2455783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Ransomware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972" y="4331791"/>
            <a:ext cx="280630" cy="2806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62777" y="4326136"/>
            <a:ext cx="2455783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USB data exfiltration</a:t>
            </a:r>
            <a:endParaRPr lang="en-US" sz="19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4972" y="5272980"/>
            <a:ext cx="280630" cy="28063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62777" y="5267325"/>
            <a:ext cx="2455783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 paper leakage</a:t>
            </a:r>
            <a:endParaRPr lang="en-US" sz="19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4972" y="6214170"/>
            <a:ext cx="280630" cy="28063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62777" y="6208514"/>
            <a:ext cx="2881074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misuse of Lab PCs</a:t>
            </a:r>
            <a:endParaRPr lang="en-US" sz="19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4972" y="7155359"/>
            <a:ext cx="280630" cy="28063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262777" y="7149703"/>
            <a:ext cx="3458289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Cloud sharing misconfiguration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26012"/>
            <a:ext cx="689371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 Control Management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2737247"/>
            <a:ext cx="350150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Critical Risks Treated With: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370820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MFA implementation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15040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USB port blocking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59259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BitLocker encryption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03479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Patch management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47699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 security upgrades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91919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 cabinet protection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36139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 monitoring &amp; logging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2737247"/>
            <a:ext cx="330898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Risks Treated With: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4856321" y="333613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DLP (Data Loss Prevention)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856321" y="377832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WPA3 Wi-Fi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422052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Vendor verification SOP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56321" y="466272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Backup restore testing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856321" y="510492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Unlicensed software removal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8251"/>
            <a:ext cx="673238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Gap Analysis &amp; Solutions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4461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Major gaps identified and addressed to strengthen security posture.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64193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07181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224" y="321552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MFA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824" y="321552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MFA implementation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72213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224" y="386584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Passwords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824" y="386584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password policy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37245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224" y="451616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USB Fully Open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451616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 ports + whitelist devices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502277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224" y="516647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Wi-Fi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16647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WPA3 + MAC filtering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67309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224" y="581679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 Papers Unprotected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581679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Locked cabinet + digitization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32340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224" y="646711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Logs Not Reviewed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824" y="646711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Monthly reviews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4282"/>
            <a:ext cx="792777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Final Outcomes &amp; Conclusion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221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demonstrates a full ISMS lifecycle, improving data security and compliance.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2055614" y="32015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Confidentiality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740223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7845" y="3845123"/>
            <a:ext cx="318968" cy="318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32015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Access Control</a:t>
            </a:r>
            <a:endParaRPr lang="en-US" sz="2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40223"/>
            <a:ext cx="4564975" cy="456497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3230" y="3845123"/>
            <a:ext cx="318968" cy="3189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1256" y="48365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Cloud Security</a:t>
            </a:r>
            <a:endParaRPr lang="en-US" sz="2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740223"/>
            <a:ext cx="4564975" cy="4564975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041" y="4863108"/>
            <a:ext cx="318968" cy="3189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597628" y="64716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Physical Protection</a:t>
            </a:r>
            <a:endParaRPr lang="en-US" sz="23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740223"/>
            <a:ext cx="4564975" cy="4564975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43230" y="5881092"/>
            <a:ext cx="318968" cy="318968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2055614" y="647164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 Integrity</a:t>
            </a:r>
            <a:endParaRPr lang="en-US" sz="230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740223"/>
            <a:ext cx="4564975" cy="4564975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67845" y="5881092"/>
            <a:ext cx="318968" cy="318968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601986" y="48365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Incident Detection</a:t>
            </a:r>
            <a:endParaRPr lang="en-US" sz="2300" dirty="0"/>
          </a:p>
        </p:txBody>
      </p:sp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32653" y="2740223"/>
            <a:ext cx="4564975" cy="4564975"/>
          </a:xfrm>
          <a:prstGeom prst="rect">
            <a:avLst/>
          </a:prstGeom>
        </p:spPr>
      </p:pic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80033" y="4863108"/>
            <a:ext cx="318968" cy="3189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2025-11-29T18:45:51Z</dcterms:created>
  <dcterms:modified xsi:type="dcterms:W3CDTF">2025-11-29T18:45:51Z</dcterms:modified>
</cp:coreProperties>
</file>